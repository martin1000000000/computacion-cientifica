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y="5143500" cx="9144000"/>
  <p:notesSz cx="6858000" cy="9144000"/>
  <p:embeddedFontLst>
    <p:embeddedFont>
      <p:font typeface="Economica"/>
      <p:regular r:id="rId14"/>
      <p:bold r:id="rId15"/>
      <p:italic r:id="rId16"/>
      <p:boldItalic r:id="rId17"/>
    </p:embeddedFont>
    <p:embeddedFont>
      <p:font typeface="Open Sans"/>
      <p:regular r:id="rId18"/>
      <p:bold r:id="rId19"/>
      <p:italic r:id="rId20"/>
      <p:boldItalic r:id="rId2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OpenSans-italic.fnt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21" Type="http://schemas.openxmlformats.org/officeDocument/2006/relationships/font" Target="fonts/OpenSans-boldItalic.fntdata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Economica-bold.fntdata"/><Relationship Id="rId14" Type="http://schemas.openxmlformats.org/officeDocument/2006/relationships/font" Target="fonts/Economica-regular.fntdata"/><Relationship Id="rId17" Type="http://schemas.openxmlformats.org/officeDocument/2006/relationships/font" Target="fonts/Economica-boldItalic.fntdata"/><Relationship Id="rId16" Type="http://schemas.openxmlformats.org/officeDocument/2006/relationships/font" Target="fonts/Economica-italic.fntdata"/><Relationship Id="rId5" Type="http://schemas.openxmlformats.org/officeDocument/2006/relationships/notesMaster" Target="notesMasters/notesMaster1.xml"/><Relationship Id="rId19" Type="http://schemas.openxmlformats.org/officeDocument/2006/relationships/font" Target="fonts/OpenSans-bold.fntdata"/><Relationship Id="rId6" Type="http://schemas.openxmlformats.org/officeDocument/2006/relationships/slide" Target="slides/slide1.xml"/><Relationship Id="rId18" Type="http://schemas.openxmlformats.org/officeDocument/2006/relationships/font" Target="fonts/OpenSans-regular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3dbbc547d7c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" name="Google Shape;68;g3dbbc547d7c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dbbc547d7c_2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3dbbc547d7c_2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dbbc547d7c_2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3dbbc547d7c_2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dbbc547d7c_2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dbbc547d7c_2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dbbc547d7c_0_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dbbc547d7c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3dbbc547d7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3dbbc547d7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dbbc547d7c_0_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3dbbc547d7c_0_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2744013" y="756700"/>
            <a:ext cx="1081625" cy="1124950"/>
          </a:xfrm>
          <a:custGeom>
            <a:rect b="b" l="l" r="r" t="t"/>
            <a:pathLst>
              <a:path extrusionOk="0" h="44998" w="43265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cap="flat" cmpd="sng" w="28575">
            <a:solidFill>
              <a:schemeClr val="lt2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11" name="Google Shape;11;p2"/>
          <p:cNvSpPr/>
          <p:nvPr/>
        </p:nvSpPr>
        <p:spPr>
          <a:xfrm rot="10800000">
            <a:off x="5318350" y="3266725"/>
            <a:ext cx="1081625" cy="1124950"/>
          </a:xfrm>
          <a:custGeom>
            <a:rect b="b" l="l" r="r" t="t"/>
            <a:pathLst>
              <a:path extrusionOk="0" h="44998" w="43265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cap="flat" cmpd="sng" w="28575">
            <a:solidFill>
              <a:schemeClr val="lt2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12" name="Google Shape;12;p2"/>
          <p:cNvSpPr txBox="1"/>
          <p:nvPr>
            <p:ph type="ctrTitle"/>
          </p:nvPr>
        </p:nvSpPr>
        <p:spPr>
          <a:xfrm>
            <a:off x="3044700" y="1444255"/>
            <a:ext cx="3054600" cy="1537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3044700" y="3116580"/>
            <a:ext cx="3054600" cy="70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 flipH="1">
            <a:off x="7595938" y="460225"/>
            <a:ext cx="1081625" cy="1124950"/>
          </a:xfrm>
          <a:custGeom>
            <a:rect b="b" l="l" r="r" t="t"/>
            <a:pathLst>
              <a:path extrusionOk="0" h="44998" w="43265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cap="flat" cmpd="sng" w="28575">
            <a:solidFill>
              <a:schemeClr val="lt2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17" name="Google Shape;17;p3"/>
          <p:cNvSpPr/>
          <p:nvPr/>
        </p:nvSpPr>
        <p:spPr>
          <a:xfrm flipH="1" rot="10800000">
            <a:off x="466425" y="3558325"/>
            <a:ext cx="1081625" cy="1124950"/>
          </a:xfrm>
          <a:custGeom>
            <a:rect b="b" l="l" r="r" t="t"/>
            <a:pathLst>
              <a:path extrusionOk="0" h="44998" w="43265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cap="flat" cmpd="sng" w="28575">
            <a:solidFill>
              <a:schemeClr val="lt2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18" name="Google Shape;18;p3"/>
          <p:cNvSpPr txBox="1"/>
          <p:nvPr>
            <p:ph type="title"/>
          </p:nvPr>
        </p:nvSpPr>
        <p:spPr>
          <a:xfrm>
            <a:off x="773700" y="1806450"/>
            <a:ext cx="7596600" cy="1530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" name="Google Shape;22;p4"/>
          <p:cNvSpPr txBox="1"/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/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27" name="Google Shape;27;p5"/>
          <p:cNvSpPr txBox="1"/>
          <p:nvPr>
            <p:ph idx="1" type="body"/>
          </p:nvPr>
        </p:nvSpPr>
        <p:spPr>
          <a:xfrm>
            <a:off x="311700" y="1225225"/>
            <a:ext cx="3999900" cy="335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5"/>
          <p:cNvSpPr txBox="1"/>
          <p:nvPr>
            <p:ph idx="2" type="body"/>
          </p:nvPr>
        </p:nvSpPr>
        <p:spPr>
          <a:xfrm>
            <a:off x="4832400" y="1225225"/>
            <a:ext cx="3999900" cy="335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 txBox="1"/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32" name="Google Shape;32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311700" y="1399400"/>
            <a:ext cx="2808000" cy="27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6" name="Google Shape;36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" name="Google Shape;39;p8"/>
          <p:cNvSpPr txBox="1"/>
          <p:nvPr>
            <p:ph type="title"/>
          </p:nvPr>
        </p:nvSpPr>
        <p:spPr>
          <a:xfrm>
            <a:off x="490250" y="450150"/>
            <a:ext cx="5878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40" name="Google Shape;40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9"/>
          <p:cNvSpPr/>
          <p:nvPr/>
        </p:nvSpPr>
        <p:spPr>
          <a:xfrm>
            <a:off x="4572000" y="-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43" name="Google Shape;43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9"/>
          <p:cNvSpPr txBox="1"/>
          <p:nvPr>
            <p:ph type="title"/>
          </p:nvPr>
        </p:nvSpPr>
        <p:spPr>
          <a:xfrm>
            <a:off x="265500" y="929275"/>
            <a:ext cx="4045200" cy="1786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45" name="Google Shape;45;p9"/>
          <p:cNvSpPr txBox="1"/>
          <p:nvPr>
            <p:ph idx="1" type="subTitle"/>
          </p:nvPr>
        </p:nvSpPr>
        <p:spPr>
          <a:xfrm>
            <a:off x="265500" y="2769001"/>
            <a:ext cx="4045200" cy="157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9pPr>
          </a:lstStyle>
          <a:p/>
        </p:txBody>
      </p:sp>
      <p:sp>
        <p:nvSpPr>
          <p:cNvPr id="46" name="Google Shape;46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" name="Google Shape;47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0"/>
          <p:cNvSpPr txBox="1"/>
          <p:nvPr>
            <p:ph idx="1" type="body"/>
          </p:nvPr>
        </p:nvSpPr>
        <p:spPr>
          <a:xfrm>
            <a:off x="319500" y="421892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</a:lstStyle>
          <a:p/>
        </p:txBody>
      </p:sp>
      <p:sp>
        <p:nvSpPr>
          <p:cNvPr id="50" name="Google Shape;50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1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" name="Google Shape;53;p11"/>
          <p:cNvSpPr txBox="1"/>
          <p:nvPr>
            <p:ph hasCustomPrompt="1" type="title"/>
          </p:nvPr>
        </p:nvSpPr>
        <p:spPr>
          <a:xfrm>
            <a:off x="311700" y="957125"/>
            <a:ext cx="8520600" cy="212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4" name="Google Shape;54;p11"/>
          <p:cNvSpPr txBox="1"/>
          <p:nvPr>
            <p:ph idx="1" type="body"/>
          </p:nvPr>
        </p:nvSpPr>
        <p:spPr>
          <a:xfrm>
            <a:off x="311700" y="3162000"/>
            <a:ext cx="8520600" cy="10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5" name="Google Shape;55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luxe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0.png"/><Relationship Id="rId4" Type="http://schemas.openxmlformats.org/officeDocument/2006/relationships/image" Target="../media/image12.png"/><Relationship Id="rId5" Type="http://schemas.openxmlformats.org/officeDocument/2006/relationships/image" Target="../media/image19.png"/><Relationship Id="rId6" Type="http://schemas.openxmlformats.org/officeDocument/2006/relationships/image" Target="../media/image10.png"/><Relationship Id="rId7" Type="http://schemas.openxmlformats.org/officeDocument/2006/relationships/image" Target="../media/image7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3.png"/><Relationship Id="rId4" Type="http://schemas.openxmlformats.org/officeDocument/2006/relationships/image" Target="../media/image6.png"/><Relationship Id="rId5" Type="http://schemas.openxmlformats.org/officeDocument/2006/relationships/image" Target="../media/image4.png"/><Relationship Id="rId6" Type="http://schemas.openxmlformats.org/officeDocument/2006/relationships/image" Target="../media/image16.png"/><Relationship Id="rId7" Type="http://schemas.openxmlformats.org/officeDocument/2006/relationships/image" Target="../media/image9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5" Type="http://schemas.openxmlformats.org/officeDocument/2006/relationships/image" Target="../media/image1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1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5.png"/><Relationship Id="rId4" Type="http://schemas.openxmlformats.org/officeDocument/2006/relationships/image" Target="../media/image11.png"/><Relationship Id="rId5" Type="http://schemas.openxmlformats.org/officeDocument/2006/relationships/image" Target="../media/image18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3"/>
          <p:cNvSpPr txBox="1"/>
          <p:nvPr>
            <p:ph type="ctrTitle"/>
          </p:nvPr>
        </p:nvSpPr>
        <p:spPr>
          <a:xfrm>
            <a:off x="390958" y="7108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 sz="4500"/>
              <a:t>Consecuencias</a:t>
            </a:r>
            <a:r>
              <a:rPr lang="es" sz="4500"/>
              <a:t> de la IA en las personas</a:t>
            </a:r>
            <a:endParaRPr sz="4500"/>
          </a:p>
        </p:txBody>
      </p:sp>
      <p:sp>
        <p:nvSpPr>
          <p:cNvPr id="63" name="Google Shape;63;p13"/>
          <p:cNvSpPr txBox="1"/>
          <p:nvPr>
            <p:ph idx="1" type="subTitle"/>
          </p:nvPr>
        </p:nvSpPr>
        <p:spPr>
          <a:xfrm>
            <a:off x="2540000" y="3330900"/>
            <a:ext cx="3833700" cy="70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770"/>
              <a:buNone/>
            </a:pPr>
            <a:r>
              <a:rPr lang="es" sz="1280"/>
              <a:t>I</a:t>
            </a:r>
            <a:r>
              <a:rPr lang="es" sz="1280"/>
              <a:t>ntegrantes</a:t>
            </a:r>
            <a:r>
              <a:rPr lang="es" sz="1280"/>
              <a:t>: Martin Arrigo, Nicolas Toro, Benjamin Neira, Diego Mora</a:t>
            </a:r>
            <a:endParaRPr sz="128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770"/>
              <a:buNone/>
            </a:pPr>
            <a:r>
              <a:rPr lang="es" sz="1280"/>
              <a:t>Profesor: Luis Veas</a:t>
            </a:r>
            <a:endParaRPr sz="128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770"/>
              <a:buNone/>
            </a:pPr>
            <a:r>
              <a:rPr lang="es" sz="1280"/>
              <a:t>Fecha de </a:t>
            </a:r>
            <a:r>
              <a:rPr lang="es" sz="1280"/>
              <a:t>presentación</a:t>
            </a:r>
            <a:r>
              <a:rPr lang="es" sz="1280"/>
              <a:t>: 11/05/2026</a:t>
            </a:r>
            <a:endParaRPr sz="1280"/>
          </a:p>
        </p:txBody>
      </p:sp>
      <p:pic>
        <p:nvPicPr>
          <p:cNvPr id="64" name="Google Shape;64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4150" y="181525"/>
            <a:ext cx="932950" cy="994200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1/8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4"/>
          <p:cNvSpPr txBox="1"/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I</a:t>
            </a:r>
            <a:r>
              <a:rPr lang="es"/>
              <a:t>ntroducción</a:t>
            </a:r>
            <a:endParaRPr/>
          </a:p>
        </p:txBody>
      </p:sp>
      <p:sp>
        <p:nvSpPr>
          <p:cNvPr id="71" name="Google Shape;71;p14"/>
          <p:cNvSpPr txBox="1"/>
          <p:nvPr>
            <p:ph idx="1" type="body"/>
          </p:nvPr>
        </p:nvSpPr>
        <p:spPr>
          <a:xfrm>
            <a:off x="468525" y="1938000"/>
            <a:ext cx="2216400" cy="2952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s" sz="1100">
                <a:latin typeface="Economica"/>
                <a:ea typeface="Economica"/>
                <a:cs typeface="Economica"/>
                <a:sym typeface="Economica"/>
              </a:rPr>
              <a:t>En el presente trabajo abordaremos el impacto de la inteligencia artificial desde </a:t>
            </a:r>
            <a:r>
              <a:rPr lang="es" sz="1100">
                <a:latin typeface="Economica"/>
                <a:ea typeface="Economica"/>
                <a:cs typeface="Economica"/>
                <a:sym typeface="Economica"/>
              </a:rPr>
              <a:t>temáticas</a:t>
            </a:r>
            <a:r>
              <a:rPr lang="es" sz="1100">
                <a:latin typeface="Economica"/>
                <a:ea typeface="Economica"/>
                <a:cs typeface="Economica"/>
                <a:sym typeface="Economica"/>
              </a:rPr>
              <a:t> ya establecidas, como lo son </a:t>
            </a:r>
            <a:r>
              <a:rPr lang="es" sz="1100">
                <a:latin typeface="Economica"/>
                <a:ea typeface="Economica"/>
                <a:cs typeface="Economica"/>
                <a:sym typeface="Economica"/>
              </a:rPr>
              <a:t>educación</a:t>
            </a:r>
            <a:r>
              <a:rPr lang="es" sz="1100">
                <a:latin typeface="Economica"/>
                <a:ea typeface="Economica"/>
                <a:cs typeface="Economica"/>
                <a:sym typeface="Economica"/>
              </a:rPr>
              <a:t>, salud, empleo y seguridad.</a:t>
            </a:r>
            <a:endParaRPr sz="1100">
              <a:latin typeface="Economica"/>
              <a:ea typeface="Economica"/>
              <a:cs typeface="Economica"/>
              <a:sym typeface="Economica"/>
            </a:endParaRPr>
          </a:p>
        </p:txBody>
      </p:sp>
      <p:pic>
        <p:nvPicPr>
          <p:cNvPr id="72" name="Google Shape;72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24475" y="1253800"/>
            <a:ext cx="1436125" cy="1266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3" name="Google Shape;7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457110" y="1606100"/>
            <a:ext cx="1135928" cy="1213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74" name="Google Shape;74;p1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302763" y="2770975"/>
            <a:ext cx="1213949" cy="12139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5" name="Google Shape;75;p14" title="google-gemini-logo-2025-1440x430.png"/>
          <p:cNvPicPr preferRelativeResize="0"/>
          <p:nvPr/>
        </p:nvPicPr>
        <p:blipFill rotWithShape="1">
          <a:blip r:embed="rId6">
            <a:alphaModFix/>
          </a:blip>
          <a:srcRect b="5606" l="2271" r="2328" t="2651"/>
          <a:stretch/>
        </p:blipFill>
        <p:spPr>
          <a:xfrm>
            <a:off x="3211825" y="3278925"/>
            <a:ext cx="3429002" cy="990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6" name="Google Shape;76;p14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206476" y="1620524"/>
            <a:ext cx="1185100" cy="11851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r>
              <a:rPr lang="es"/>
              <a:t>/8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5"/>
          <p:cNvSpPr txBox="1"/>
          <p:nvPr>
            <p:ph type="title"/>
          </p:nvPr>
        </p:nvSpPr>
        <p:spPr>
          <a:xfrm>
            <a:off x="311700" y="75625"/>
            <a:ext cx="8520600" cy="831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M</a:t>
            </a:r>
            <a:r>
              <a:rPr lang="es"/>
              <a:t>etodología</a:t>
            </a:r>
            <a:endParaRPr/>
          </a:p>
        </p:txBody>
      </p:sp>
      <p:pic>
        <p:nvPicPr>
          <p:cNvPr id="83" name="Google Shape;83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18975" y="707510"/>
            <a:ext cx="1906375" cy="1259565"/>
          </a:xfrm>
          <a:prstGeom prst="rect">
            <a:avLst/>
          </a:prstGeom>
          <a:noFill/>
          <a:ln>
            <a:noFill/>
          </a:ln>
        </p:spPr>
      </p:pic>
      <p:pic>
        <p:nvPicPr>
          <p:cNvPr id="84" name="Google Shape;84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814300" y="3302316"/>
            <a:ext cx="2315725" cy="1337109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974651" y="1937438"/>
            <a:ext cx="1906375" cy="126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1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61625" y="1477375"/>
            <a:ext cx="3850376" cy="2472712"/>
          </a:xfrm>
          <a:prstGeom prst="rect">
            <a:avLst/>
          </a:prstGeom>
          <a:noFill/>
          <a:ln>
            <a:noFill/>
          </a:ln>
        </p:spPr>
      </p:pic>
      <p:pic>
        <p:nvPicPr>
          <p:cNvPr id="87" name="Google Shape;87;p15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451649" y="1937425"/>
            <a:ext cx="1978700" cy="1552575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r>
              <a:rPr lang="es"/>
              <a:t>/8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16"/>
          <p:cNvPicPr preferRelativeResize="0"/>
          <p:nvPr/>
        </p:nvPicPr>
        <p:blipFill rotWithShape="1">
          <a:blip r:embed="rId3">
            <a:alphaModFix/>
          </a:blip>
          <a:srcRect b="0" l="0" r="0" t="19942"/>
          <a:stretch/>
        </p:blipFill>
        <p:spPr>
          <a:xfrm>
            <a:off x="3488525" y="1572038"/>
            <a:ext cx="2951975" cy="2294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63200" y="1596648"/>
            <a:ext cx="2951975" cy="2245245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299525" y="1474063"/>
            <a:ext cx="2481266" cy="2195375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16"/>
          <p:cNvSpPr txBox="1"/>
          <p:nvPr/>
        </p:nvSpPr>
        <p:spPr>
          <a:xfrm>
            <a:off x="2640900" y="203075"/>
            <a:ext cx="38622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" sz="23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Visualización social y laboral</a:t>
            </a:r>
            <a:endParaRPr sz="2300">
              <a:solidFill>
                <a:schemeClr val="dk1"/>
              </a:solidFill>
              <a:latin typeface="Economica"/>
              <a:ea typeface="Economica"/>
              <a:cs typeface="Economica"/>
              <a:sym typeface="Economica"/>
            </a:endParaRPr>
          </a:p>
        </p:txBody>
      </p:sp>
      <p:sp>
        <p:nvSpPr>
          <p:cNvPr id="97" name="Google Shape;97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r>
              <a:rPr lang="es"/>
              <a:t>/8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" name="Google Shape;102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6700" y="1430938"/>
            <a:ext cx="3707625" cy="228161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954250" y="1586825"/>
            <a:ext cx="3731888" cy="2281625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7"/>
          <p:cNvSpPr txBox="1"/>
          <p:nvPr/>
        </p:nvSpPr>
        <p:spPr>
          <a:xfrm>
            <a:off x="2170675" y="293950"/>
            <a:ext cx="4123200" cy="102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23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Educación y rendimiento académico</a:t>
            </a:r>
            <a:endParaRPr sz="2300">
              <a:solidFill>
                <a:schemeClr val="dk1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indent="0" lvl="0" marL="0" rtl="0" algn="l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t/>
            </a:r>
            <a:endParaRPr b="1" sz="2300">
              <a:solidFill>
                <a:schemeClr val="dk1"/>
              </a:solidFill>
            </a:endParaRPr>
          </a:p>
        </p:txBody>
      </p:sp>
      <p:sp>
        <p:nvSpPr>
          <p:cNvPr id="105" name="Google Shape;105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r>
              <a:rPr lang="es"/>
              <a:t>/8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8"/>
          <p:cNvSpPr txBox="1"/>
          <p:nvPr/>
        </p:nvSpPr>
        <p:spPr>
          <a:xfrm>
            <a:off x="1123200" y="111000"/>
            <a:ext cx="6897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2400"/>
              </a:spcBef>
              <a:spcAft>
                <a:spcPts val="600"/>
              </a:spcAft>
              <a:buNone/>
            </a:pPr>
            <a:r>
              <a:rPr b="1" lang="es" sz="2300">
                <a:solidFill>
                  <a:schemeClr val="dk1"/>
                </a:solidFill>
              </a:rPr>
              <a:t>Preocupaciones frente a la IA</a:t>
            </a:r>
            <a:endParaRPr/>
          </a:p>
        </p:txBody>
      </p:sp>
      <p:sp>
        <p:nvSpPr>
          <p:cNvPr id="111" name="Google Shape;111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r>
              <a:rPr lang="es"/>
              <a:t>/8</a:t>
            </a:r>
            <a:endParaRPr/>
          </a:p>
        </p:txBody>
      </p:sp>
      <p:pic>
        <p:nvPicPr>
          <p:cNvPr id="112" name="Google Shape;112;p18" title="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700" y="689525"/>
            <a:ext cx="4206475" cy="2246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18" title="2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02025" y="789325"/>
            <a:ext cx="4568201" cy="2047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4" name="Google Shape;114;p18" title="3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446475" y="3096250"/>
            <a:ext cx="3921275" cy="1921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9;p19"/>
          <p:cNvPicPr preferRelativeResize="0"/>
          <p:nvPr/>
        </p:nvPicPr>
        <p:blipFill rotWithShape="1">
          <a:blip r:embed="rId3">
            <a:alphaModFix/>
          </a:blip>
          <a:srcRect b="2916" l="2520" r="1667" t="1482"/>
          <a:stretch/>
        </p:blipFill>
        <p:spPr>
          <a:xfrm>
            <a:off x="769125" y="1500725"/>
            <a:ext cx="7605751" cy="3273800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r>
              <a:rPr lang="es"/>
              <a:t>/8</a:t>
            </a:r>
            <a:endParaRPr/>
          </a:p>
        </p:txBody>
      </p:sp>
      <p:sp>
        <p:nvSpPr>
          <p:cNvPr id="121" name="Google Shape;121;p19"/>
          <p:cNvSpPr txBox="1"/>
          <p:nvPr/>
        </p:nvSpPr>
        <p:spPr>
          <a:xfrm>
            <a:off x="2330250" y="285175"/>
            <a:ext cx="4483500" cy="94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1" lang="es" sz="2300">
                <a:solidFill>
                  <a:schemeClr val="dk1"/>
                </a:solidFill>
              </a:rPr>
              <a:t>Producción de </a:t>
            </a:r>
            <a:r>
              <a:rPr b="1" lang="es" sz="2300">
                <a:solidFill>
                  <a:schemeClr val="dk1"/>
                </a:solidFill>
              </a:rPr>
              <a:t>publicación</a:t>
            </a:r>
            <a:r>
              <a:rPr b="1" lang="es" sz="2300">
                <a:solidFill>
                  <a:schemeClr val="dk1"/>
                </a:solidFill>
              </a:rPr>
              <a:t> científica de IA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0"/>
          <p:cNvSpPr txBox="1"/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 sz="4600"/>
              <a:t>Discusión</a:t>
            </a:r>
            <a:endParaRPr sz="4600"/>
          </a:p>
        </p:txBody>
      </p:sp>
      <p:sp>
        <p:nvSpPr>
          <p:cNvPr id="127" name="Google Shape;127;p20"/>
          <p:cNvSpPr txBox="1"/>
          <p:nvPr/>
        </p:nvSpPr>
        <p:spPr>
          <a:xfrm>
            <a:off x="486525" y="1466125"/>
            <a:ext cx="8274600" cy="15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1"/>
                </a:solidFill>
              </a:rPr>
              <a:t>Para concluir el análisis de esta entrega, destacamos los siguientes hallazgos reveladores:</a:t>
            </a:r>
            <a:endParaRPr>
              <a:solidFill>
                <a:schemeClr val="dk1"/>
              </a:solidFill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b="1" lang="es">
                <a:solidFill>
                  <a:schemeClr val="dk1"/>
                </a:solidFill>
              </a:rPr>
              <a:t>Percepción </a:t>
            </a:r>
            <a:endParaRPr b="1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s">
                <a:solidFill>
                  <a:schemeClr val="dk1"/>
                </a:solidFill>
              </a:rPr>
              <a:t>Impacto laboral</a:t>
            </a:r>
            <a:endParaRPr b="1">
              <a:solidFill>
                <a:schemeClr val="dk1"/>
              </a:solidFill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b="1" lang="es">
                <a:solidFill>
                  <a:schemeClr val="dk1"/>
                </a:solidFill>
              </a:rPr>
              <a:t>Efecto en la educación</a:t>
            </a:r>
            <a:endParaRPr>
              <a:solidFill>
                <a:schemeClr val="dk1"/>
              </a:solidFill>
            </a:endParaRPr>
          </a:p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b="1" lang="es">
                <a:solidFill>
                  <a:schemeClr val="dk1"/>
                </a:solidFill>
              </a:rPr>
              <a:t>Hegemonía tecnológica global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128" name="Google Shape;128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r>
              <a:rPr lang="es"/>
              <a:t>/8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Luxe">
  <a:themeElements>
    <a:clrScheme name="Luxe">
      <a:dk1>
        <a:srgbClr val="000000"/>
      </a:dk1>
      <a:lt1>
        <a:srgbClr val="FFFFFF"/>
      </a:lt1>
      <a:dk2>
        <a:srgbClr val="B7B7B7"/>
      </a:dk2>
      <a:lt2>
        <a:srgbClr val="CCA677"/>
      </a:lt2>
      <a:accent1>
        <a:srgbClr val="5D4037"/>
      </a:accent1>
      <a:accent2>
        <a:srgbClr val="455A64"/>
      </a:accent2>
      <a:accent3>
        <a:srgbClr val="57BB8A"/>
      </a:accent3>
      <a:accent4>
        <a:srgbClr val="78909C"/>
      </a:accent4>
      <a:accent5>
        <a:srgbClr val="607D8B"/>
      </a:accent5>
      <a:accent6>
        <a:srgbClr val="DCE755"/>
      </a:accent6>
      <a:hlink>
        <a:srgbClr val="607D8B"/>
      </a:hlink>
      <a:folHlink>
        <a:srgbClr val="607D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